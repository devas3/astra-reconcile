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908013a3-b10d-155e-cb90-869d53803834}">
          <p14:sldIdLst>
            <p14:sldId id="256"/>
            <p14:sldId id="257"/>
          </p14:sldIdLst>
        </p14:section>
        <p14:section name="Solution" id="{356b9ff7-4f4f-2288-0047-64e37dfb450f}">
          <p14:sldIdLst>
            <p14:sldId id="258"/>
            <p14:sldId id="259"/>
          </p14:sldIdLst>
        </p14:section>
        <p14:section name="Platform" id="{cd579546-af3a-8c98-fa3c-958364468e15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Vectura Reconcile checks a carrier's bill against the contract and recorded events, and explains every difference. The three numbers are the worked example later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 principle: no unexplained numbers, no automatic blame, no silent approvals when evidence is incomplete.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stages: provisional at departure, actual at delivery. Between them, events drive an automatic proposal. Rules are configuration, so changing a rate or free time needs no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Liftgate is flagged because it requires authorization, the contract has no liftgate row and no receipt is attached. Detention variance of $150 becomes a correction request to the carrier, with the clause and gate times as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ReportLab replaced PyMuPDF because PyMuPDF is AGPL. No LLM is used anywhere in the financial math. Groq OCR for reading bill documents is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path: start the app, click scenarios A to G in the dashboard, open a case decision, then show the audit trail. Production use needs real system connections and real contract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Vectura Reconcile</a:t>
            </a:r>
            <a:endParaRPr lang="en-US" sz="3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8288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Event-driven freight and service charge settlement: every dollar claimed, supported and explained.</a:t>
            </a:r>
            <a:endParaRPr lang="en-US" sz="1800" dirty="0"/>
          </a:p>
        </p:txBody>
      </p:sp>
      <p:sp>
        <p:nvSpPr>
          <p:cNvPr id="4" name="Tagline"/>
          <p:cNvSpPr txBox="1"/>
          <p:nvPr/>
        </p:nvSpPr>
        <p:spPr>
          <a:xfrm>
            <a:off x="548640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Deterministic  ·  Auditable  ·  No AI in the math</a:t>
            </a:r>
            <a:endParaRPr lang="en-US" sz="1400" dirty="0"/>
          </a:p>
        </p:txBody>
      </p:sp>
      <p:sp>
        <p:nvSpPr>
          <p:cNvPr id="5" name="Footer note"/>
          <p:cNvSpPr txBox="1"/>
          <p:nvPr/>
        </p:nvSpPr>
        <p:spPr>
          <a:xfrm>
            <a:off x="54864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Proof of concept  ·  Nous Infosystems</a:t>
            </a:r>
            <a:endParaRPr lang="en-US" sz="1100" dirty="0"/>
          </a:p>
        </p:txBody>
      </p:sp>
      <p:sp>
        <p:nvSpPr>
          <p:cNvPr id="6" name="Stat card 1"/>
          <p:cNvSpPr/>
          <p:nvPr/>
        </p:nvSpPr>
        <p:spPr>
          <a:xfrm>
            <a:off x="5852160" y="685800"/>
            <a:ext cx="2834640" cy="1143000"/>
          </a:xfrm>
          <a:prstGeom prst="roundRect">
            <a:avLst>
              <a:gd name="adj" fmla="val 8000"/>
            </a:avLst>
          </a:prstGeom>
          <a:solidFill>
            <a:schemeClr val="tx1">
              <a:alpha val="65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Stat value 1"/>
          <p:cNvSpPr txBox="1"/>
          <p:nvPr/>
        </p:nvSpPr>
        <p:spPr>
          <a:xfrm>
            <a:off x="6035040" y="7955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$603.30</a:t>
            </a:r>
            <a:endParaRPr lang="en-US" sz="3200" dirty="0"/>
          </a:p>
        </p:txBody>
      </p:sp>
      <p:sp>
        <p:nvSpPr>
          <p:cNvPr id="8" name="Stat label 1"/>
          <p:cNvSpPr txBox="1"/>
          <p:nvPr/>
        </p:nvSpPr>
        <p:spPr>
          <a:xfrm>
            <a:off x="603504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Carrier claimed</a:t>
            </a:r>
            <a:endParaRPr lang="en-US" sz="1400" dirty="0"/>
          </a:p>
        </p:txBody>
      </p:sp>
      <p:sp>
        <p:nvSpPr>
          <p:cNvPr id="9" name="Stat card 2"/>
          <p:cNvSpPr/>
          <p:nvPr/>
        </p:nvSpPr>
        <p:spPr>
          <a:xfrm>
            <a:off x="5852160" y="2011680"/>
            <a:ext cx="2834640" cy="1143000"/>
          </a:xfrm>
          <a:prstGeom prst="roundRect">
            <a:avLst>
              <a:gd name="adj" fmla="val 8000"/>
            </a:avLst>
          </a:prstGeom>
          <a:solidFill>
            <a:schemeClr val="tx1">
              <a:alpha val="65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Stat value 2"/>
          <p:cNvSpPr txBox="1"/>
          <p:nvPr/>
        </p:nvSpPr>
        <p:spPr>
          <a:xfrm>
            <a:off x="6035040" y="21214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$403.30</a:t>
            </a:r>
            <a:endParaRPr lang="en-US" sz="3200" dirty="0"/>
          </a:p>
        </p:txBody>
      </p:sp>
      <p:sp>
        <p:nvSpPr>
          <p:cNvPr id="11" name="Stat label 2"/>
          <p:cNvSpPr txBox="1"/>
          <p:nvPr/>
        </p:nvSpPr>
        <p:spPr>
          <a:xfrm>
            <a:off x="6035040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Evidence supported</a:t>
            </a:r>
            <a:endParaRPr lang="en-US" sz="1400" dirty="0"/>
          </a:p>
        </p:txBody>
      </p:sp>
      <p:sp>
        <p:nvSpPr>
          <p:cNvPr id="12" name="Stat card 3"/>
          <p:cNvSpPr/>
          <p:nvPr/>
        </p:nvSpPr>
        <p:spPr>
          <a:xfrm>
            <a:off x="5852160" y="3337560"/>
            <a:ext cx="2834640" cy="1143000"/>
          </a:xfrm>
          <a:prstGeom prst="roundRect">
            <a:avLst>
              <a:gd name="adj" fmla="val 8000"/>
            </a:avLst>
          </a:prstGeom>
          <a:solidFill>
            <a:schemeClr val="tx1">
              <a:alpha val="65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Stat value 3"/>
          <p:cNvSpPr txBox="1"/>
          <p:nvPr/>
        </p:nvSpPr>
        <p:spPr>
          <a:xfrm>
            <a:off x="6035040" y="34472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$200.00</a:t>
            </a:r>
            <a:endParaRPr lang="en-US" sz="3200" dirty="0"/>
          </a:p>
        </p:txBody>
      </p:sp>
      <p:sp>
        <p:nvSpPr>
          <p:cNvPr id="14" name="Stat label 3"/>
          <p:cNvSpPr txBox="1"/>
          <p:nvPr/>
        </p:nvSpPr>
        <p:spPr>
          <a:xfrm>
            <a:off x="6035040" y="4023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Variance, with reasons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solve</a:t>
            </a:r>
            <a:endParaRPr lang="en-US" sz="3400" dirty="0"/>
          </a:p>
        </p:txBody>
      </p:sp>
      <p:sp>
        <p:nvSpPr>
          <p:cNvPr id="3" name="Lead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Freight bills look simple until someone asks why a charge was raised.</a:t>
            </a:r>
            <a:endParaRPr lang="en-US" sz="1600" dirty="0"/>
          </a:p>
        </p:txBody>
      </p:sp>
      <p:sp>
        <p:nvSpPr>
          <p:cNvPr id="4" name="Pain icon bg 1"/>
          <p:cNvSpPr/>
          <p:nvPr/>
        </p:nvSpPr>
        <p:spPr>
          <a:xfrm>
            <a:off x="457200" y="16459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Conflicting evid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274320" cy="274320"/>
          </a:xfrm>
          <a:prstGeom prst="rect">
            <a:avLst/>
          </a:prstGeom>
        </p:spPr>
      </p:pic>
      <p:sp>
        <p:nvSpPr>
          <p:cNvPr id="6" name="Pain title 1"/>
          <p:cNvSpPr txBox="1"/>
          <p:nvPr/>
        </p:nvSpPr>
        <p:spPr>
          <a:xfrm>
            <a:off x="118872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Conflicting evidence</a:t>
            </a:r>
            <a:endParaRPr lang="en-US" sz="1800" dirty="0"/>
          </a:p>
        </p:txBody>
      </p:sp>
      <p:sp>
        <p:nvSpPr>
          <p:cNvPr id="7" name="Pain text 1"/>
          <p:cNvSpPr txBox="1"/>
          <p:nvPr/>
        </p:nvSpPr>
        <p:spPr>
          <a:xfrm>
            <a:off x="1188720" y="19476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GPS, driver app, warehouse log and contract each tell part of the story.</a:t>
            </a:r>
            <a:endParaRPr lang="en-US" sz="1400" dirty="0"/>
          </a:p>
        </p:txBody>
      </p:sp>
      <p:sp>
        <p:nvSpPr>
          <p:cNvPr id="8" name="Pain icon bg 2"/>
          <p:cNvSpPr/>
          <p:nvPr/>
        </p:nvSpPr>
        <p:spPr>
          <a:xfrm>
            <a:off x="457200" y="2670048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Unexplained charg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807208"/>
            <a:ext cx="274320" cy="274320"/>
          </a:xfrm>
          <a:prstGeom prst="rect">
            <a:avLst/>
          </a:prstGeom>
        </p:spPr>
      </p:pic>
      <p:sp>
        <p:nvSpPr>
          <p:cNvPr id="10" name="Pain title 2"/>
          <p:cNvSpPr txBox="1"/>
          <p:nvPr/>
        </p:nvSpPr>
        <p:spPr>
          <a:xfrm>
            <a:off x="1188720" y="2624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Unexplained charges</a:t>
            </a:r>
            <a:endParaRPr lang="en-US" sz="1800" dirty="0"/>
          </a:p>
        </p:txBody>
      </p:sp>
      <p:sp>
        <p:nvSpPr>
          <p:cNvPr id="11" name="Pain text 2"/>
          <p:cNvSpPr txBox="1"/>
          <p:nvPr/>
        </p:nvSpPr>
        <p:spPr>
          <a:xfrm>
            <a:off x="1188720" y="2971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Teams chase emails and screenshots to decide if an amount is payable.</a:t>
            </a:r>
            <a:endParaRPr lang="en-US" sz="1400" dirty="0"/>
          </a:p>
        </p:txBody>
      </p:sp>
      <p:sp>
        <p:nvSpPr>
          <p:cNvPr id="12" name="Pain icon bg 3"/>
          <p:cNvSpPr/>
          <p:nvPr/>
        </p:nvSpPr>
        <p:spPr>
          <a:xfrm>
            <a:off x="457200" y="3694176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Leakage and frau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31336"/>
            <a:ext cx="274320" cy="274320"/>
          </a:xfrm>
          <a:prstGeom prst="rect">
            <a:avLst/>
          </a:prstGeom>
        </p:spPr>
      </p:pic>
      <p:sp>
        <p:nvSpPr>
          <p:cNvPr id="14" name="Pain title 3"/>
          <p:cNvSpPr txBox="1"/>
          <p:nvPr/>
        </p:nvSpPr>
        <p:spPr>
          <a:xfrm>
            <a:off x="1188720" y="36484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Leakage and fraud</a:t>
            </a:r>
            <a:endParaRPr lang="en-US" sz="1800" dirty="0"/>
          </a:p>
        </p:txBody>
      </p:sp>
      <p:sp>
        <p:nvSpPr>
          <p:cNvPr id="15" name="Pain text 3"/>
          <p:cNvSpPr txBox="1"/>
          <p:nvPr/>
        </p:nvSpPr>
        <p:spPr>
          <a:xfrm>
            <a:off x="1188720" y="39959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Duplicate bills, ghost fees and padded hours slip through.</a:t>
            </a:r>
            <a:endParaRPr lang="en-US" sz="1400" dirty="0"/>
          </a:p>
        </p:txBody>
      </p:sp>
      <p:sp>
        <p:nvSpPr>
          <p:cNvPr id="16" name="Answer panel"/>
          <p:cNvSpPr/>
          <p:nvPr/>
        </p:nvSpPr>
        <p:spPr>
          <a:xfrm>
            <a:off x="4937760" y="1554480"/>
            <a:ext cx="374904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Answer title"/>
          <p:cNvSpPr txBox="1"/>
          <p:nvPr/>
        </p:nvSpPr>
        <p:spPr>
          <a:xfrm>
            <a:off x="516636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 every charge, one clear answer</a:t>
            </a:r>
            <a:endParaRPr lang="en-US" sz="1600" dirty="0"/>
          </a:p>
        </p:txBody>
      </p:sp>
      <p:sp>
        <p:nvSpPr>
          <p:cNvPr id="18" name="Field chip 1"/>
          <p:cNvSpPr/>
          <p:nvPr/>
        </p:nvSpPr>
        <p:spPr>
          <a:xfrm>
            <a:off x="5166360" y="2148840"/>
            <a:ext cx="1143000" cy="4572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Field name 1"/>
          <p:cNvSpPr txBox="1"/>
          <p:nvPr/>
        </p:nvSpPr>
        <p:spPr>
          <a:xfrm>
            <a:off x="5166360" y="21488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Claimed</a:t>
            </a:r>
            <a:endParaRPr lang="en-US" sz="1400" dirty="0"/>
          </a:p>
        </p:txBody>
      </p:sp>
      <p:sp>
        <p:nvSpPr>
          <p:cNvPr id="20" name="Field desc 1"/>
          <p:cNvSpPr txBox="1"/>
          <p:nvPr/>
        </p:nvSpPr>
        <p:spPr>
          <a:xfrm>
            <a:off x="6446520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the carrier billed</a:t>
            </a:r>
            <a:endParaRPr lang="en-US" sz="1400" dirty="0"/>
          </a:p>
        </p:txBody>
      </p:sp>
      <p:sp>
        <p:nvSpPr>
          <p:cNvPr id="21" name="Field chip 2"/>
          <p:cNvSpPr/>
          <p:nvPr/>
        </p:nvSpPr>
        <p:spPr>
          <a:xfrm>
            <a:off x="5166360" y="2788920"/>
            <a:ext cx="11430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Field name 2"/>
          <p:cNvSpPr txBox="1"/>
          <p:nvPr/>
        </p:nvSpPr>
        <p:spPr>
          <a:xfrm>
            <a:off x="5166360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Supported</a:t>
            </a:r>
            <a:endParaRPr lang="en-US" sz="1400" dirty="0"/>
          </a:p>
        </p:txBody>
      </p:sp>
      <p:sp>
        <p:nvSpPr>
          <p:cNvPr id="23" name="Field desc 2"/>
          <p:cNvSpPr txBox="1"/>
          <p:nvPr/>
        </p:nvSpPr>
        <p:spPr>
          <a:xfrm>
            <a:off x="644652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contract + evidence allow</a:t>
            </a:r>
            <a:endParaRPr lang="en-US" sz="1400" dirty="0"/>
          </a:p>
        </p:txBody>
      </p:sp>
      <p:sp>
        <p:nvSpPr>
          <p:cNvPr id="24" name="Field chip 3"/>
          <p:cNvSpPr/>
          <p:nvPr/>
        </p:nvSpPr>
        <p:spPr>
          <a:xfrm>
            <a:off x="5166360" y="3429000"/>
            <a:ext cx="11430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Field name 3"/>
          <p:cNvSpPr txBox="1"/>
          <p:nvPr/>
        </p:nvSpPr>
        <p:spPr>
          <a:xfrm>
            <a:off x="5166360" y="34290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Variance</a:t>
            </a:r>
            <a:endParaRPr lang="en-US" sz="1400" dirty="0"/>
          </a:p>
        </p:txBody>
      </p:sp>
      <p:sp>
        <p:nvSpPr>
          <p:cNvPr id="26" name="Field desc 3"/>
          <p:cNvSpPr txBox="1"/>
          <p:nvPr/>
        </p:nvSpPr>
        <p:spPr>
          <a:xfrm>
            <a:off x="644652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difference, with the reason</a:t>
            </a:r>
            <a:endParaRPr lang="en-US" sz="1400" dirty="0"/>
          </a:p>
        </p:txBody>
      </p:sp>
      <p:sp>
        <p:nvSpPr>
          <p:cNvPr id="27" name="Field chip 4"/>
          <p:cNvSpPr/>
          <p:nvPr/>
        </p:nvSpPr>
        <p:spPr>
          <a:xfrm>
            <a:off x="5166360" y="4069080"/>
            <a:ext cx="11430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Field name 4"/>
          <p:cNvSpPr txBox="1"/>
          <p:nvPr/>
        </p:nvSpPr>
        <p:spPr>
          <a:xfrm>
            <a:off x="5166360" y="4069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Action</a:t>
            </a:r>
            <a:endParaRPr lang="en-US" sz="1400" dirty="0"/>
          </a:p>
        </p:txBody>
      </p:sp>
      <p:sp>
        <p:nvSpPr>
          <p:cNvPr id="29" name="Field desc 4"/>
          <p:cNvSpPr txBox="1"/>
          <p:nvPr/>
        </p:nvSpPr>
        <p:spPr>
          <a:xfrm>
            <a:off x="6446520" y="4069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approve, partial, get proof, or review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Step icon bg 1"/>
          <p:cNvSpPr/>
          <p:nvPr/>
        </p:nvSpPr>
        <p:spPr>
          <a:xfrm>
            <a:off x="457200" y="11430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Ingest ev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271016"/>
            <a:ext cx="246888" cy="246888"/>
          </a:xfrm>
          <a:prstGeom prst="rect">
            <a:avLst/>
          </a:prstGeom>
        </p:spPr>
      </p:pic>
      <p:sp>
        <p:nvSpPr>
          <p:cNvPr id="5" name="Step title 1"/>
          <p:cNvSpPr txBox="1"/>
          <p:nvPr/>
        </p:nvSpPr>
        <p:spPr>
          <a:xfrm>
            <a:off x="1143000" y="11247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1. Ingest events</a:t>
            </a:r>
            <a:endParaRPr lang="en-US" sz="1600" dirty="0"/>
          </a:p>
        </p:txBody>
      </p:sp>
      <p:sp>
        <p:nvSpPr>
          <p:cNvPr id="6" name="Step text 1"/>
          <p:cNvSpPr txBox="1"/>
          <p:nvPr/>
        </p:nvSpPr>
        <p:spPr>
          <a:xfrm>
            <a:off x="1143000" y="14081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Adapters map TMS, WMS and GPS payloads into events.</a:t>
            </a:r>
            <a:endParaRPr lang="en-US" sz="1400" dirty="0"/>
          </a:p>
        </p:txBody>
      </p:sp>
      <p:sp>
        <p:nvSpPr>
          <p:cNvPr id="7" name="Step icon bg 2"/>
          <p:cNvSpPr/>
          <p:nvPr/>
        </p:nvSpPr>
        <p:spPr>
          <a:xfrm>
            <a:off x="45720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Build evide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002536"/>
            <a:ext cx="246888" cy="246888"/>
          </a:xfrm>
          <a:prstGeom prst="rect">
            <a:avLst/>
          </a:prstGeom>
        </p:spPr>
      </p:pic>
      <p:sp>
        <p:nvSpPr>
          <p:cNvPr id="9" name="Step title 2"/>
          <p:cNvSpPr txBox="1"/>
          <p:nvPr/>
        </p:nvSpPr>
        <p:spPr>
          <a:xfrm>
            <a:off x="1143000" y="18562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2. Build evidence</a:t>
            </a:r>
            <a:endParaRPr lang="en-US" sz="1600" dirty="0"/>
          </a:p>
        </p:txBody>
      </p:sp>
      <p:sp>
        <p:nvSpPr>
          <p:cNvPr id="10" name="Step text 2"/>
          <p:cNvSpPr txBox="1"/>
          <p:nvPr/>
        </p:nvSpPr>
        <p:spPr>
          <a:xfrm>
            <a:off x="1143000" y="21396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Times to UTC; best source wins; all facts kept.</a:t>
            </a:r>
            <a:endParaRPr lang="en-US" sz="1400" dirty="0"/>
          </a:p>
        </p:txBody>
      </p:sp>
      <p:sp>
        <p:nvSpPr>
          <p:cNvPr id="11" name="Step icon bg 3"/>
          <p:cNvSpPr/>
          <p:nvPr/>
        </p:nvSpPr>
        <p:spPr>
          <a:xfrm>
            <a:off x="457200" y="2606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2" descr="Apply the contrac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734056"/>
            <a:ext cx="246888" cy="246888"/>
          </a:xfrm>
          <a:prstGeom prst="rect">
            <a:avLst/>
          </a:prstGeom>
        </p:spPr>
      </p:pic>
      <p:sp>
        <p:nvSpPr>
          <p:cNvPr id="13" name="Step title 3"/>
          <p:cNvSpPr txBox="1"/>
          <p:nvPr/>
        </p:nvSpPr>
        <p:spPr>
          <a:xfrm>
            <a:off x="1143000" y="25877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3. Apply the contract</a:t>
            </a:r>
            <a:endParaRPr lang="en-US" sz="1600" dirty="0"/>
          </a:p>
        </p:txBody>
      </p:sp>
      <p:sp>
        <p:nvSpPr>
          <p:cNvPr id="14" name="Step text 3"/>
          <p:cNvSpPr txBox="1"/>
          <p:nvPr/>
        </p:nvSpPr>
        <p:spPr>
          <a:xfrm>
            <a:off x="1143000" y="28712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Versioned terms set the clock start, free time, rates.</a:t>
            </a:r>
            <a:endParaRPr lang="en-US" sz="1400" dirty="0"/>
          </a:p>
        </p:txBody>
      </p:sp>
      <p:sp>
        <p:nvSpPr>
          <p:cNvPr id="15" name="Step icon bg 4"/>
          <p:cNvSpPr/>
          <p:nvPr/>
        </p:nvSpPr>
        <p:spPr>
          <a:xfrm>
            <a:off x="457200" y="33375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3" descr="Run guardrail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3465576"/>
            <a:ext cx="246888" cy="246888"/>
          </a:xfrm>
          <a:prstGeom prst="rect">
            <a:avLst/>
          </a:prstGeom>
        </p:spPr>
      </p:pic>
      <p:sp>
        <p:nvSpPr>
          <p:cNvPr id="17" name="Step title 4"/>
          <p:cNvSpPr txBox="1"/>
          <p:nvPr/>
        </p:nvSpPr>
        <p:spPr>
          <a:xfrm>
            <a:off x="1143000" y="33192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4. Run guardrails</a:t>
            </a:r>
            <a:endParaRPr lang="en-US" sz="1600" dirty="0"/>
          </a:p>
        </p:txBody>
      </p:sp>
      <p:sp>
        <p:nvSpPr>
          <p:cNvPr id="18" name="Step text 4"/>
          <p:cNvSpPr txBox="1"/>
          <p:nvPr/>
        </p:nvSpPr>
        <p:spPr>
          <a:xfrm>
            <a:off x="1143000" y="36027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Duplicate, ghost fee, overlap, wrong reference, fuel peg.</a:t>
            </a:r>
            <a:endParaRPr lang="en-US" sz="1400" dirty="0"/>
          </a:p>
        </p:txBody>
      </p:sp>
      <p:sp>
        <p:nvSpPr>
          <p:cNvPr id="19" name="Step icon bg 5"/>
          <p:cNvSpPr/>
          <p:nvPr/>
        </p:nvSpPr>
        <p:spPr>
          <a:xfrm>
            <a:off x="457200" y="4069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4" descr="Decide and publis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4197096"/>
            <a:ext cx="246888" cy="246888"/>
          </a:xfrm>
          <a:prstGeom prst="rect">
            <a:avLst/>
          </a:prstGeom>
        </p:spPr>
      </p:pic>
      <p:sp>
        <p:nvSpPr>
          <p:cNvPr id="21" name="Step title 5"/>
          <p:cNvSpPr txBox="1"/>
          <p:nvPr/>
        </p:nvSpPr>
        <p:spPr>
          <a:xfrm>
            <a:off x="1143000" y="4050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5. Decide and publish</a:t>
            </a:r>
            <a:endParaRPr lang="en-US" sz="1600" dirty="0"/>
          </a:p>
        </p:txBody>
      </p:sp>
      <p:sp>
        <p:nvSpPr>
          <p:cNvPr id="22" name="Step text 5"/>
          <p:cNvSpPr txBox="1"/>
          <p:nvPr/>
        </p:nvSpPr>
        <p:spPr>
          <a:xfrm>
            <a:off x="1143000" y="43342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Cases with owners; approvals audited; outbox to finance.</a:t>
            </a:r>
            <a:endParaRPr lang="en-US" sz="1400" dirty="0"/>
          </a:p>
        </p:txBody>
      </p:sp>
      <p:sp>
        <p:nvSpPr>
          <p:cNvPr id="23" name="Stage card 1"/>
          <p:cNvSpPr/>
          <p:nvPr/>
        </p:nvSpPr>
        <p:spPr>
          <a:xfrm>
            <a:off x="5669280" y="1143000"/>
            <a:ext cx="30175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tage title 1"/>
          <p:cNvSpPr txBox="1"/>
          <p:nvPr/>
        </p:nvSpPr>
        <p:spPr>
          <a:xfrm>
            <a:off x="5852160" y="12344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Stage 1  ·  Provisional</a:t>
            </a:r>
            <a:endParaRPr lang="en-US" sz="1400" dirty="0"/>
          </a:p>
        </p:txBody>
      </p:sp>
      <p:sp>
        <p:nvSpPr>
          <p:cNvPr id="25" name="Stage text 1"/>
          <p:cNvSpPr txBox="1"/>
          <p:nvPr/>
        </p:nvSpPr>
        <p:spPr>
          <a:xfrm>
            <a:off x="5852160" y="152704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Truck leaves: pro-forma invoice from contract (linehaul + DOE fuel).</a:t>
            </a:r>
            <a:endParaRPr lang="en-US" sz="1300" dirty="0"/>
          </a:p>
        </p:txBody>
      </p:sp>
      <p:sp>
        <p:nvSpPr>
          <p:cNvPr id="26" name="Stage card 2"/>
          <p:cNvSpPr/>
          <p:nvPr/>
        </p:nvSpPr>
        <p:spPr>
          <a:xfrm>
            <a:off x="5669280" y="2331720"/>
            <a:ext cx="3017520" cy="100584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tage title 2"/>
          <p:cNvSpPr txBox="1"/>
          <p:nvPr/>
        </p:nvSpPr>
        <p:spPr>
          <a:xfrm>
            <a:off x="5852160" y="2423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Event proposal</a:t>
            </a:r>
            <a:endParaRPr lang="en-US" sz="1400" dirty="0"/>
          </a:p>
        </p:txBody>
      </p:sp>
      <p:sp>
        <p:nvSpPr>
          <p:cNvPr id="28" name="Stage text 2"/>
          <p:cNvSpPr txBox="1"/>
          <p:nvPr/>
        </p:nvSpPr>
        <p:spPr>
          <a:xfrm>
            <a:off x="5852160" y="27157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Gate release or OTP sign-off: system prices what events support.</a:t>
            </a:r>
            <a:endParaRPr lang="en-US" sz="1300" dirty="0"/>
          </a:p>
        </p:txBody>
      </p:sp>
      <p:sp>
        <p:nvSpPr>
          <p:cNvPr id="29" name="Stage card 3"/>
          <p:cNvSpPr/>
          <p:nvPr/>
        </p:nvSpPr>
        <p:spPr>
          <a:xfrm>
            <a:off x="5669280" y="3520440"/>
            <a:ext cx="30175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tage title 3"/>
          <p:cNvSpPr txBox="1"/>
          <p:nvPr/>
        </p:nvSpPr>
        <p:spPr>
          <a:xfrm>
            <a:off x="5852160" y="3611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Stage 2  ·  Actual</a:t>
            </a:r>
            <a:endParaRPr lang="en-US" sz="1400" dirty="0"/>
          </a:p>
        </p:txBody>
      </p:sp>
      <p:sp>
        <p:nvSpPr>
          <p:cNvPr id="31" name="Stage text 3"/>
          <p:cNvSpPr txBox="1"/>
          <p:nvPr/>
        </p:nvSpPr>
        <p:spPr>
          <a:xfrm>
            <a:off x="5852160" y="390448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Carrier bill arrives: compared with pre-bill, contract and evidence.</a:t>
            </a:r>
            <a:endParaRPr lang="en-US" sz="1300" dirty="0"/>
          </a:p>
        </p:txBody>
      </p:sp>
      <p:sp>
        <p:nvSpPr>
          <p:cNvPr id="32" name="Footnote"/>
          <p:cNvSpPr txBox="1"/>
          <p:nvPr/>
        </p:nvSpPr>
        <p:spPr>
          <a:xfrm>
            <a:off x="457200" y="4754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All rules are data: contracts, catalog, calendars, owners and permissions live in the database, not in code.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</a:t>
            </a:r>
            <a:endParaRPr lang="en-US" sz="3400" dirty="0"/>
          </a:p>
        </p:txBody>
      </p:sp>
      <p:sp>
        <p:nvSpPr>
          <p:cNvPr id="3" name="Lead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carrier invoice, four charges: $603.30 billed, $403.30 supported.</a:t>
            </a:r>
            <a:endParaRPr lang="en-US" sz="1600" dirty="0"/>
          </a:p>
        </p:txBody>
      </p:sp>
      <p:graphicFrame>
        <p:nvGraphicFramePr>
          <p:cNvPr id="5" name="Settlem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53949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914400"/>
                <a:gridCol w="1005840"/>
                <a:gridCol w="914400"/>
                <a:gridCol w="15087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Charge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Claimed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Supported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Variance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Linehaul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$250.00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$250.00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$0.00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</a:rPr>
                        <a:t>Approve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Fuel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$40.80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$40.80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$0.00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</a:rPr>
                        <a:t>Approve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Detention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$262.50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$112.50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26A00"/>
                          </a:solidFill>
                        </a:rPr>
                        <a:t>$150.00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26A00"/>
                          </a:solidFill>
                        </a:rPr>
                        <a:t>Partial approve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Liftgate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$50.00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$0.00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26A00"/>
                          </a:solidFill>
                        </a:rPr>
                        <a:t>$50.00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64933"/>
                          </a:solidFill>
                        </a:rPr>
                        <a:t>Review: ghost fee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$603.30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$403.30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$200.00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64933"/>
                          </a:solidFill>
                        </a:rPr>
                        <a:t>Held for review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able caption"/>
          <p:cNvSpPr txBox="1"/>
          <p:nvPr/>
        </p:nvSpPr>
        <p:spPr>
          <a:xfrm>
            <a:off x="457200" y="43891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Pre-bill (provisional + event proposal) was $403.30, matching the supported total.</a:t>
            </a:r>
            <a:endParaRPr lang="en-US" sz="1300" dirty="0"/>
          </a:p>
        </p:txBody>
      </p:sp>
      <p:sp>
        <p:nvSpPr>
          <p:cNvPr id="6" name="Detention panel"/>
          <p:cNvSpPr/>
          <p:nvPr/>
        </p:nvSpPr>
        <p:spPr>
          <a:xfrm>
            <a:off x="6126480" y="1508760"/>
            <a:ext cx="2560320" cy="320040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Panel title"/>
          <p:cNvSpPr txBox="1"/>
          <p:nvPr/>
        </p:nvSpPr>
        <p:spPr>
          <a:xfrm>
            <a:off x="6309360" y="16276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detention is $112.50</a:t>
            </a:r>
            <a:endParaRPr lang="en-US" sz="1600" dirty="0"/>
          </a:p>
        </p:txBody>
      </p:sp>
      <p:sp>
        <p:nvSpPr>
          <p:cNvPr id="8" name="Logic key 1"/>
          <p:cNvSpPr txBox="1"/>
          <p:nvPr/>
        </p:nvSpPr>
        <p:spPr>
          <a:xfrm>
            <a:off x="6309360" y="21488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09:00</a:t>
            </a:r>
            <a:endParaRPr lang="en-US" sz="1400" dirty="0"/>
          </a:p>
        </p:txBody>
      </p:sp>
      <p:sp>
        <p:nvSpPr>
          <p:cNvPr id="9" name="Logic text 1"/>
          <p:cNvSpPr txBox="1"/>
          <p:nvPr/>
        </p:nvSpPr>
        <p:spPr>
          <a:xfrm>
            <a:off x="6309360" y="23957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Arrived 08:45, on time: clock starts at appointment</a:t>
            </a:r>
            <a:endParaRPr lang="en-US" sz="1300" dirty="0"/>
          </a:p>
        </p:txBody>
      </p:sp>
      <p:sp>
        <p:nvSpPr>
          <p:cNvPr id="10" name="Logic key 2"/>
          <p:cNvSpPr txBox="1"/>
          <p:nvPr/>
        </p:nvSpPr>
        <p:spPr>
          <a:xfrm>
            <a:off x="6309360" y="2788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210 min</a:t>
            </a:r>
            <a:endParaRPr lang="en-US" sz="1400" dirty="0"/>
          </a:p>
        </p:txBody>
      </p:sp>
      <p:sp>
        <p:nvSpPr>
          <p:cNvPr id="11" name="Logic text 2"/>
          <p:cNvSpPr txBox="1"/>
          <p:nvPr/>
        </p:nvSpPr>
        <p:spPr>
          <a:xfrm>
            <a:off x="6309360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09:00 to release at 12:30</a:t>
            </a:r>
            <a:endParaRPr lang="en-US" sz="1300" dirty="0"/>
          </a:p>
        </p:txBody>
      </p:sp>
      <p:sp>
        <p:nvSpPr>
          <p:cNvPr id="12" name="Logic key 3"/>
          <p:cNvSpPr txBox="1"/>
          <p:nvPr/>
        </p:nvSpPr>
        <p:spPr>
          <a:xfrm>
            <a:off x="6309360" y="3429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- 120 min</a:t>
            </a:r>
            <a:endParaRPr lang="en-US" sz="1400" dirty="0"/>
          </a:p>
        </p:txBody>
      </p:sp>
      <p:sp>
        <p:nvSpPr>
          <p:cNvPr id="13" name="Logic text 3"/>
          <p:cNvSpPr txBox="1"/>
          <p:nvPr/>
        </p:nvSpPr>
        <p:spPr>
          <a:xfrm>
            <a:off x="6309360" y="3675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free time per contract clause 4.2</a:t>
            </a:r>
            <a:endParaRPr lang="en-US" sz="1300" dirty="0"/>
          </a:p>
        </p:txBody>
      </p:sp>
      <p:sp>
        <p:nvSpPr>
          <p:cNvPr id="14" name="Logic key 4"/>
          <p:cNvSpPr txBox="1"/>
          <p:nvPr/>
        </p:nvSpPr>
        <p:spPr>
          <a:xfrm>
            <a:off x="6309360" y="4069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1.5 h x $75</a:t>
            </a:r>
            <a:endParaRPr lang="en-US" sz="1400" dirty="0"/>
          </a:p>
        </p:txBody>
      </p:sp>
      <p:sp>
        <p:nvSpPr>
          <p:cNvPr id="15" name="Logic text 4"/>
          <p:cNvSpPr txBox="1"/>
          <p:nvPr/>
        </p:nvSpPr>
        <p:spPr>
          <a:xfrm>
            <a:off x="6309360" y="4315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= $112.50; carrier billed 3.5 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Lead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Free and open source. No Docker, no paid services.</a:t>
            </a:r>
            <a:endParaRPr lang="en-US" sz="1600" dirty="0"/>
          </a:p>
        </p:txBody>
      </p:sp>
      <p:sp>
        <p:nvSpPr>
          <p:cNvPr id="4" name="Tile 1"/>
          <p:cNvSpPr/>
          <p:nvPr/>
        </p:nvSpPr>
        <p:spPr>
          <a:xfrm>
            <a:off x="457200" y="155448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ile icon bg 1"/>
          <p:cNvSpPr/>
          <p:nvPr/>
        </p:nvSpPr>
        <p:spPr>
          <a:xfrm>
            <a:off x="640080" y="1719072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mage 0" descr="AP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819656"/>
            <a:ext cx="210312" cy="210312"/>
          </a:xfrm>
          <a:prstGeom prst="rect">
            <a:avLst/>
          </a:prstGeom>
        </p:spPr>
      </p:pic>
      <p:sp>
        <p:nvSpPr>
          <p:cNvPr id="7" name="Tile title 1"/>
          <p:cNvSpPr txBox="1"/>
          <p:nvPr/>
        </p:nvSpPr>
        <p:spPr>
          <a:xfrm>
            <a:off x="1188720" y="17190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API</a:t>
            </a:r>
            <a:endParaRPr lang="en-US" sz="1600" dirty="0"/>
          </a:p>
        </p:txBody>
      </p:sp>
      <p:sp>
        <p:nvSpPr>
          <p:cNvPr id="8" name="Tile text 1"/>
          <p:cNvSpPr txBox="1"/>
          <p:nvPr/>
        </p:nvSpPr>
        <p:spPr>
          <a:xfrm>
            <a:off x="640080" y="221284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Python 3.11+, FastAPI, Uvicorn. REST endpoints, health checks, JSON logs.</a:t>
            </a:r>
            <a:endParaRPr lang="en-US" sz="1300" dirty="0"/>
          </a:p>
        </p:txBody>
      </p:sp>
      <p:sp>
        <p:nvSpPr>
          <p:cNvPr id="9" name="Tile 2"/>
          <p:cNvSpPr/>
          <p:nvPr/>
        </p:nvSpPr>
        <p:spPr>
          <a:xfrm>
            <a:off x="3246120" y="155448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ile icon bg 2"/>
          <p:cNvSpPr/>
          <p:nvPr/>
        </p:nvSpPr>
        <p:spPr>
          <a:xfrm>
            <a:off x="3429000" y="1719072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Image 1" descr="Da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819656"/>
            <a:ext cx="210312" cy="210312"/>
          </a:xfrm>
          <a:prstGeom prst="rect">
            <a:avLst/>
          </a:prstGeom>
        </p:spPr>
      </p:pic>
      <p:sp>
        <p:nvSpPr>
          <p:cNvPr id="12" name="Tile title 2"/>
          <p:cNvSpPr txBox="1"/>
          <p:nvPr/>
        </p:nvSpPr>
        <p:spPr>
          <a:xfrm>
            <a:off x="3977640" y="17190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</a:t>
            </a:r>
            <a:endParaRPr lang="en-US" sz="1600" dirty="0"/>
          </a:p>
        </p:txBody>
      </p:sp>
      <p:sp>
        <p:nvSpPr>
          <p:cNvPr id="13" name="Tile text 2"/>
          <p:cNvSpPr txBox="1"/>
          <p:nvPr/>
        </p:nvSpPr>
        <p:spPr>
          <a:xfrm>
            <a:off x="3429000" y="221284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SQLAlchemy 2 + Alembic migrations. SQLite now, PostgreSQL-ready.</a:t>
            </a:r>
            <a:endParaRPr lang="en-US" sz="1300" dirty="0"/>
          </a:p>
        </p:txBody>
      </p:sp>
      <p:sp>
        <p:nvSpPr>
          <p:cNvPr id="14" name="Tile 3"/>
          <p:cNvSpPr/>
          <p:nvPr/>
        </p:nvSpPr>
        <p:spPr>
          <a:xfrm>
            <a:off x="6035040" y="155448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ile icon bg 3"/>
          <p:cNvSpPr/>
          <p:nvPr/>
        </p:nvSpPr>
        <p:spPr>
          <a:xfrm>
            <a:off x="6217920" y="1719072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mage 2" descr="Rules as da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819656"/>
            <a:ext cx="210312" cy="210312"/>
          </a:xfrm>
          <a:prstGeom prst="rect">
            <a:avLst/>
          </a:prstGeom>
        </p:spPr>
      </p:pic>
      <p:sp>
        <p:nvSpPr>
          <p:cNvPr id="17" name="Tile title 3"/>
          <p:cNvSpPr txBox="1"/>
          <p:nvPr/>
        </p:nvSpPr>
        <p:spPr>
          <a:xfrm>
            <a:off x="6766560" y="17190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Rules as data</a:t>
            </a:r>
            <a:endParaRPr lang="en-US" sz="1600" dirty="0"/>
          </a:p>
        </p:txBody>
      </p:sp>
      <p:sp>
        <p:nvSpPr>
          <p:cNvPr id="18" name="Tile text 3"/>
          <p:cNvSpPr txBox="1"/>
          <p:nvPr/>
        </p:nvSpPr>
        <p:spPr>
          <a:xfrm>
            <a:off x="6217920" y="221284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Contracts, catalog, calendars, policies seeded from JSON into tables.</a:t>
            </a:r>
            <a:endParaRPr lang="en-US" sz="1300" dirty="0"/>
          </a:p>
        </p:txBody>
      </p:sp>
      <p:sp>
        <p:nvSpPr>
          <p:cNvPr id="19" name="Tile 4"/>
          <p:cNvSpPr/>
          <p:nvPr/>
        </p:nvSpPr>
        <p:spPr>
          <a:xfrm>
            <a:off x="457200" y="315468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ile icon bg 4"/>
          <p:cNvSpPr/>
          <p:nvPr/>
        </p:nvSpPr>
        <p:spPr>
          <a:xfrm>
            <a:off x="640080" y="3319272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mage 3" descr="Valid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419856"/>
            <a:ext cx="210312" cy="210312"/>
          </a:xfrm>
          <a:prstGeom prst="rect">
            <a:avLst/>
          </a:prstGeom>
        </p:spPr>
      </p:pic>
      <p:sp>
        <p:nvSpPr>
          <p:cNvPr id="22" name="Tile title 4"/>
          <p:cNvSpPr txBox="1"/>
          <p:nvPr/>
        </p:nvSpPr>
        <p:spPr>
          <a:xfrm>
            <a:off x="1188720" y="33192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23" name="Tile text 4"/>
          <p:cNvSpPr txBox="1"/>
          <p:nvPr/>
        </p:nvSpPr>
        <p:spPr>
          <a:xfrm>
            <a:off x="640080" y="381304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Pydantic v2 models, Decimal money math, settings from environment.</a:t>
            </a:r>
            <a:endParaRPr lang="en-US" sz="1300" dirty="0"/>
          </a:p>
        </p:txBody>
      </p:sp>
      <p:sp>
        <p:nvSpPr>
          <p:cNvPr id="24" name="Tile 5"/>
          <p:cNvSpPr/>
          <p:nvPr/>
        </p:nvSpPr>
        <p:spPr>
          <a:xfrm>
            <a:off x="3246120" y="315468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ile icon bg 5"/>
          <p:cNvSpPr/>
          <p:nvPr/>
        </p:nvSpPr>
        <p:spPr>
          <a:xfrm>
            <a:off x="3429000" y="3319272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6" name="Image 4" descr="Securit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584" y="3419856"/>
            <a:ext cx="210312" cy="210312"/>
          </a:xfrm>
          <a:prstGeom prst="rect">
            <a:avLst/>
          </a:prstGeom>
        </p:spPr>
      </p:pic>
      <p:sp>
        <p:nvSpPr>
          <p:cNvPr id="27" name="Tile title 5"/>
          <p:cNvSpPr txBox="1"/>
          <p:nvPr/>
        </p:nvSpPr>
        <p:spPr>
          <a:xfrm>
            <a:off x="3977640" y="33192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Security</a:t>
            </a:r>
            <a:endParaRPr lang="en-US" sz="1600" dirty="0"/>
          </a:p>
        </p:txBody>
      </p:sp>
      <p:sp>
        <p:nvSpPr>
          <p:cNvPr id="28" name="Tile text 5"/>
          <p:cNvSpPr txBox="1"/>
          <p:nvPr/>
        </p:nvSpPr>
        <p:spPr>
          <a:xfrm>
            <a:off x="3429000" y="381304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API keys to roles to permissions. Every manual change audited.</a:t>
            </a:r>
            <a:endParaRPr lang="en-US" sz="1300" dirty="0"/>
          </a:p>
        </p:txBody>
      </p:sp>
      <p:sp>
        <p:nvSpPr>
          <p:cNvPr id="29" name="Tile 6"/>
          <p:cNvSpPr/>
          <p:nvPr/>
        </p:nvSpPr>
        <p:spPr>
          <a:xfrm>
            <a:off x="6035040" y="315468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ile icon bg 6"/>
          <p:cNvSpPr/>
          <p:nvPr/>
        </p:nvSpPr>
        <p:spPr>
          <a:xfrm>
            <a:off x="6217920" y="3319272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1" name="Image 5" descr="Qualit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3419856"/>
            <a:ext cx="210312" cy="210312"/>
          </a:xfrm>
          <a:prstGeom prst="rect">
            <a:avLst/>
          </a:prstGeom>
        </p:spPr>
      </p:pic>
      <p:sp>
        <p:nvSpPr>
          <p:cNvPr id="32" name="Tile title 6"/>
          <p:cNvSpPr txBox="1"/>
          <p:nvPr/>
        </p:nvSpPr>
        <p:spPr>
          <a:xfrm>
            <a:off x="6766560" y="33192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Quality</a:t>
            </a:r>
            <a:endParaRPr lang="en-US" sz="1600" dirty="0"/>
          </a:p>
        </p:txBody>
      </p:sp>
      <p:sp>
        <p:nvSpPr>
          <p:cNvPr id="33" name="Tile text 6"/>
          <p:cNvSpPr txBox="1"/>
          <p:nvPr/>
        </p:nvSpPr>
        <p:spPr>
          <a:xfrm>
            <a:off x="6217920" y="381304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pytest (47 tests, 92% coverage), ruff, GitHub Actions CI.</a:t>
            </a:r>
            <a:endParaRPr lang="en-US" sz="1300" dirty="0"/>
          </a:p>
        </p:txBody>
      </p:sp>
      <p:sp>
        <p:nvSpPr>
          <p:cNvPr id="34" name="Footnote"/>
          <p:cNvSpPr txBox="1"/>
          <p:nvPr/>
        </p:nvSpPr>
        <p:spPr>
          <a:xfrm>
            <a:off x="457200" y="4754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Also: httpx (EIA fuel index and outbound calls), ReportLab (dispute-memo PDF), vanilla HTML/JS dashboard.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it, test it, what's next</a:t>
            </a:r>
            <a:endParaRPr lang="en-US" sz="34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4572000" cy="32004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Run label"/>
          <p:cNvSpPr txBox="1"/>
          <p:nvPr/>
        </p:nvSpPr>
        <p:spPr>
          <a:xfrm>
            <a:off x="685800" y="1298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RUN</a:t>
            </a:r>
            <a:endParaRPr lang="en-US" sz="1200" dirty="0"/>
          </a:p>
        </p:txBody>
      </p:sp>
      <p:sp>
        <p:nvSpPr>
          <p:cNvPr id="5" name="Run commands"/>
          <p:cNvSpPr txBox="1"/>
          <p:nvPr/>
        </p:nvSpPr>
        <p:spPr>
          <a:xfrm>
            <a:off x="685800" y="1572768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 scripts/run.ps1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migrates, seeds, serves on :8000</a:t>
            </a:r>
            <a:endParaRPr lang="en-US" sz="1300" dirty="0"/>
          </a:p>
        </p:txBody>
      </p:sp>
      <p:sp>
        <p:nvSpPr>
          <p:cNvPr id="6" name="Test label"/>
          <p:cNvSpPr txBox="1"/>
          <p:nvPr/>
        </p:nvSpPr>
        <p:spPr>
          <a:xfrm>
            <a:off x="68580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TEST</a:t>
            </a:r>
            <a:endParaRPr lang="en-US" sz="1200" dirty="0"/>
          </a:p>
        </p:txBody>
      </p:sp>
      <p:sp>
        <p:nvSpPr>
          <p:cNvPr id="7" name="Test commands"/>
          <p:cNvSpPr txBox="1"/>
          <p:nvPr/>
        </p:nvSpPr>
        <p:spPr>
          <a:xfrm>
            <a:off x="685800" y="297180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requirements-dev.txt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--cov=src/vectura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ruff check src tests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UI at :8000   API docs at /docs</a:t>
            </a:r>
            <a:endParaRPr lang="en-US" sz="1300" dirty="0"/>
          </a:p>
        </p:txBody>
      </p:sp>
      <p:sp>
        <p:nvSpPr>
          <p:cNvPr id="8" name="Done title"/>
          <p:cNvSpPr txBox="1"/>
          <p:nvPr/>
        </p:nvSpPr>
        <p:spPr>
          <a:xfrm>
            <a:off x="530352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Built and tested</a:t>
            </a:r>
            <a:endParaRPr lang="en-US" sz="1600" dirty="0"/>
          </a:p>
        </p:txBody>
      </p:sp>
      <p:sp>
        <p:nvSpPr>
          <p:cNvPr id="9" name="Done list"/>
          <p:cNvSpPr txBox="1"/>
          <p:nvPr/>
        </p:nvSpPr>
        <p:spPr>
          <a:xfrm>
            <a:off x="5303520" y="15544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Clocks for truck, ocean, rail, LTL, intermodal and service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Fraud guardrails, cases, roles, audit trail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Inbound adapters, outbox, admin API, PDF memo</a:t>
            </a:r>
            <a:endParaRPr lang="en-US" sz="1400" dirty="0"/>
          </a:p>
        </p:txBody>
      </p:sp>
      <p:sp>
        <p:nvSpPr>
          <p:cNvPr id="10" name="Next title"/>
          <p:cNvSpPr txBox="1"/>
          <p:nvPr/>
        </p:nvSpPr>
        <p:spPr>
          <a:xfrm>
            <a:off x="5303520" y="3017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Next steps</a:t>
            </a:r>
            <a:endParaRPr lang="en-US" sz="1600" dirty="0"/>
          </a:p>
        </p:txBody>
      </p:sp>
      <p:sp>
        <p:nvSpPr>
          <p:cNvPr id="11" name="Next list"/>
          <p:cNvSpPr txBox="1"/>
          <p:nvPr/>
        </p:nvSpPr>
        <p:spPr>
          <a:xfrm>
            <a:off x="5303520" y="33832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Connect real TMS, WMS, terminal, ERP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Load real carrier contracts and calendars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 carrier bill documents (OCR)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ctura Freight">
  <a:themeElements>
    <a:clrScheme name="Vectura Freight">
      <a:dk1>
        <a:srgbClr val="1B2A3A"/>
      </a:dk1>
      <a:lt1>
        <a:srgbClr val="FFFFFF"/>
      </a:lt1>
      <a:dk2>
        <a:srgbClr val="0B2545"/>
      </a:dk2>
      <a:lt2>
        <a:srgbClr val="EEF3F8"/>
      </a:lt2>
      <a:accent1>
        <a:srgbClr val="13A89E"/>
      </a:accent1>
      <a:accent2>
        <a:srgbClr val="F6AE2D"/>
      </a:accent2>
      <a:accent3>
        <a:srgbClr val="D64933"/>
      </a:accent3>
      <a:accent4>
        <a:srgbClr val="3C6E9F"/>
      </a:accent4>
      <a:accent5>
        <a:srgbClr val="7A8CA0"/>
      </a:accent5>
      <a:accent6>
        <a:srgbClr val="2E7D32"/>
      </a:accent6>
      <a:hlink>
        <a:srgbClr val="3C6E9F"/>
      </a:hlink>
      <a:folHlink>
        <a:srgbClr val="7A8CA0"/>
      </a:folHlink>
    </a:clrScheme>
    <a:fontScheme name="Vectura Fre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Vectura Reconcile</dc:title>
  <dc:subject>PptxGenJS Presentation</dc:subject>
  <dc:creator>PptxGenJS</dc:creator>
  <cp:lastModifiedBy>PptxGenJS</cp:lastModifiedBy>
  <cp:revision>1</cp:revision>
  <dcterms:created xsi:type="dcterms:W3CDTF">2026-10-19T14:49:01Z</dcterms:created>
  <dcterms:modified xsi:type="dcterms:W3CDTF">2026-10-19T14:49:01Z</dcterms:modified>
</cp:coreProperties>
</file>